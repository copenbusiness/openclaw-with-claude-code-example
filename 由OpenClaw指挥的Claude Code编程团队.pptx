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6" d="100"/>
          <a:sy n="86" d="100"/>
        </p:scale>
        <p:origin x="27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EF27A-85AC-68DC-39E6-1D1726325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9A7684-6E19-E841-F2FD-7BAC7D5F8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550F97-A9A1-3A1F-C49E-CB9CAADA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6EC8-1D31-4EC2-A518-CB76BB94B14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518DD0-873A-F42A-E645-EF9E82A3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7D1B0A-F1B1-0636-4C6D-09AA393A9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1602-FBC0-4AE3-86B6-EB7AAE700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87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E6E7E-397F-F866-1957-08492D73A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E5A3A2-5C35-1149-A24C-2F9EC13B9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667D81-D385-D5F1-C4A7-F93DE535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6EC8-1D31-4EC2-A518-CB76BB94B14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1FD10A-48A8-236F-1A6D-C080639A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EBF59D-EF8E-8435-D18F-23D0E73A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1602-FBC0-4AE3-86B6-EB7AAE700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761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F6182-7EC0-F5CE-BA15-3ABA71172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6014C4-F6F2-7695-01AD-C189A7C67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E438EB-FBFB-5E98-1432-B2722FBDE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6EC8-1D31-4EC2-A518-CB76BB94B14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11B79D-E92B-FD2D-A3B3-A70CE463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2075EB-42EA-5172-351D-9670D775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1602-FBC0-4AE3-86B6-EB7AAE700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28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87394-0C82-8E32-6173-0702A55C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219807-A53B-7B6A-43B2-45DA724EA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29C665-9AF0-51BB-A275-2656AE529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81A21E-B60B-C18A-AC4A-61BA9075F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6EC8-1D31-4EC2-A518-CB76BB94B14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8CA22D-F8EE-74CC-2B1F-B4058B09A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4CE8ED-22A6-6EB8-6FB3-E1C6AA513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1602-FBC0-4AE3-86B6-EB7AAE700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78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2CB97-4A25-8DC5-C40A-629DCCAF2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F7F5F8-AB43-0802-7D6F-0054BF40A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C0B657-0B00-E119-E400-9F1F4B4A5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5182C62-1D70-8159-6F05-3B558A90C3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9850B7-245F-7ABD-E0B3-DC8733B8E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488C6C-4172-AB4F-9454-137549BC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6EC8-1D31-4EC2-A518-CB76BB94B14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060E0F-2E18-40A8-1CBB-62C324C74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29ECF7-18E1-E04A-81AC-D3FC154C2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1602-FBC0-4AE3-86B6-EB7AAE700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58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2D4DD-E9F0-050D-03EE-15BEE9CB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3DE5E6-C974-3535-6438-39ABDAC0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6EC8-1D31-4EC2-A518-CB76BB94B14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32D34A-AB90-DCD5-5D85-C1386448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9F636B-7234-DA79-322B-2D6830E3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1602-FBC0-4AE3-86B6-EB7AAE700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169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B82DA2-6ADA-A584-6D70-55A8A627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6EC8-1D31-4EC2-A518-CB76BB94B14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6D2E7E-E729-579B-C3D7-5C6286C24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302DA8-ADE2-6F40-A105-9D82BECB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1602-FBC0-4AE3-86B6-EB7AAE700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77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F2FB8-A888-74EE-732D-9C1335A84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FB5BD9-624E-37D1-95B5-ECFD866C6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A3E819-1410-2CF6-28F5-70E20C082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837712-FDC8-F4DC-6E99-9259DEFF8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6EC8-1D31-4EC2-A518-CB76BB94B14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4ED24A-CDE5-771B-87EA-9284DF91E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6FA359-0417-6B77-163C-EBEC47E58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1602-FBC0-4AE3-86B6-EB7AAE700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501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691F4D-0A96-F28E-DBD0-ECDEF7B0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550094-5836-0726-815E-87BD081AD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C9D391-3AE4-63CD-B5C6-082127092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9945FF-A0ED-9589-3393-1393D10D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6EC8-1D31-4EC2-A518-CB76BB94B14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11529D-1955-A9A1-CBEF-113365685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A12282-AC7E-EDFB-CC00-D38B7C30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1602-FBC0-4AE3-86B6-EB7AAE700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62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08FEA-2676-F78F-8370-DAFC3E3F0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DB5128-4F7E-E611-E7E6-112028611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8CADE5-5366-730F-5C3A-DE8D00BBD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6EC8-1D31-4EC2-A518-CB76BB94B14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F07886-6790-3047-B804-EF41406D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A6556B-AA00-AA8E-298A-DCAEAD04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1602-FBC0-4AE3-86B6-EB7AAE700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15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614F9D-B530-A6E9-2E8F-2DEBC384F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DBE19C-F078-60A4-5459-8FA928EA8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01150C-3A6A-C2D9-2D8F-8E896C037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6EC8-1D31-4EC2-A518-CB76BB94B14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C0A1C6-9E87-23DE-9D3D-6D78EC27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48D3F6-BE31-04A6-8149-AD9B9529C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1602-FBC0-4AE3-86B6-EB7AAE700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636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F165E85-FE4E-AEE8-AAAD-D34A9AE73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A20137-FFC7-4240-02F8-D141CB707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C1B141-D01B-7F12-7A67-5A90C469A9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46EC8-1D31-4EC2-A518-CB76BB94B14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B1BF74-A16B-C7B1-FD9D-CDAD923CC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4BF54-8FC8-446A-7187-5548F55E5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31602-FBC0-4AE3-86B6-EB7AAE700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199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1D9401-146D-86B9-C624-DA65BFCBDA30}"/>
              </a:ext>
            </a:extLst>
          </p:cNvPr>
          <p:cNvSpPr txBox="1"/>
          <p:nvPr/>
        </p:nvSpPr>
        <p:spPr>
          <a:xfrm>
            <a:off x="1546167" y="2033847"/>
            <a:ext cx="821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采用国产模型</a:t>
            </a:r>
            <a:r>
              <a:rPr lang="en-US" altLang="zh-CN" b="1" dirty="0"/>
              <a:t>DeepSeek</a:t>
            </a:r>
            <a:r>
              <a:rPr lang="zh-CN" altLang="en-US" b="1" dirty="0"/>
              <a:t>、由</a:t>
            </a:r>
            <a:r>
              <a:rPr lang="en-US" altLang="zh-CN" b="1" dirty="0" err="1"/>
              <a:t>OpenClaw</a:t>
            </a:r>
            <a:r>
              <a:rPr lang="zh-CN" altLang="en-US" b="1" dirty="0"/>
              <a:t>指挥的</a:t>
            </a:r>
            <a:r>
              <a:rPr lang="en-US" altLang="zh-CN" b="1" dirty="0"/>
              <a:t>Claude Code</a:t>
            </a:r>
            <a:r>
              <a:rPr lang="zh-CN" altLang="en-US" b="1" dirty="0"/>
              <a:t>编程团队</a:t>
            </a:r>
          </a:p>
        </p:txBody>
      </p:sp>
    </p:spTree>
    <p:extLst>
      <p:ext uri="{BB962C8B-B14F-4D97-AF65-F5344CB8AC3E}">
        <p14:creationId xmlns:p14="http://schemas.microsoft.com/office/powerpoint/2010/main" val="3572173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C2D1B5-9809-7A21-957A-1A87B6D10DC2}"/>
              </a:ext>
            </a:extLst>
          </p:cNvPr>
          <p:cNvSpPr txBox="1"/>
          <p:nvPr/>
        </p:nvSpPr>
        <p:spPr>
          <a:xfrm>
            <a:off x="138545" y="110836"/>
            <a:ext cx="599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个体示意图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2CC90A-5B51-7C5E-068F-72C2B069C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615" y="869314"/>
            <a:ext cx="8406130" cy="572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281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43AD2-2745-43F1-BA29-771B4E262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8897675-CFF7-E6A7-D990-F15B94471C27}"/>
              </a:ext>
            </a:extLst>
          </p:cNvPr>
          <p:cNvSpPr txBox="1"/>
          <p:nvPr/>
        </p:nvSpPr>
        <p:spPr>
          <a:xfrm>
            <a:off x="116378" y="94211"/>
            <a:ext cx="548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团队示意图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9F8631-C841-39B7-4484-8A9B8BDF9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022" y="202334"/>
            <a:ext cx="8406130" cy="656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60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296F-7D4B-138C-6374-6D26E117D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E7A550B-4080-00C7-CB52-E5D1D7EAD29C}"/>
              </a:ext>
            </a:extLst>
          </p:cNvPr>
          <p:cNvSpPr txBox="1"/>
          <p:nvPr/>
        </p:nvSpPr>
        <p:spPr>
          <a:xfrm>
            <a:off x="188422" y="121920"/>
            <a:ext cx="6240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OpenClaw</a:t>
            </a:r>
            <a:r>
              <a:rPr lang="zh-CN" altLang="en-US" dirty="0"/>
              <a:t>配置</a:t>
            </a:r>
            <a:r>
              <a:rPr lang="en-US" altLang="zh-CN" dirty="0"/>
              <a:t>DeepSeek</a:t>
            </a:r>
            <a:r>
              <a:rPr lang="zh-CN" altLang="en-US" dirty="0"/>
              <a:t>关键步骤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9A449B-48F2-BFD5-16EB-B7DDD6FEB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339" y="453244"/>
            <a:ext cx="5923036" cy="59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18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146B8-1EC1-E1D0-906C-8F2F08E0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1D8A74-F213-809B-56B7-6DEB0B29E3A9}"/>
              </a:ext>
            </a:extLst>
          </p:cNvPr>
          <p:cNvSpPr txBox="1"/>
          <p:nvPr/>
        </p:nvSpPr>
        <p:spPr>
          <a:xfrm>
            <a:off x="138545" y="127462"/>
            <a:ext cx="5508568" cy="382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Claude Code</a:t>
            </a:r>
            <a:r>
              <a:rPr lang="zh-CN" altLang="en-US" dirty="0"/>
              <a:t>接入</a:t>
            </a:r>
            <a:r>
              <a:rPr lang="en-US" altLang="zh-CN" dirty="0" err="1"/>
              <a:t>deepseek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704B20-57AA-6347-EA5A-2ED2DED16E71}"/>
              </a:ext>
            </a:extLst>
          </p:cNvPr>
          <p:cNvSpPr txBox="1"/>
          <p:nvPr/>
        </p:nvSpPr>
        <p:spPr>
          <a:xfrm>
            <a:off x="737062" y="615142"/>
            <a:ext cx="10673542" cy="597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~/.</a:t>
            </a:r>
            <a:r>
              <a:rPr lang="en-US" altLang="zh-CN" dirty="0" err="1"/>
              <a:t>claude</a:t>
            </a:r>
            <a:r>
              <a:rPr lang="en-US" altLang="zh-CN" dirty="0"/>
              <a:t>/</a:t>
            </a:r>
            <a:r>
              <a:rPr lang="en-US" altLang="zh-CN" dirty="0" err="1"/>
              <a:t>settings.json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"env": {</a:t>
            </a:r>
          </a:p>
          <a:p>
            <a:r>
              <a:rPr lang="en-US" altLang="zh-CN" dirty="0"/>
              <a:t>    "ANTHROPIC_AUTH_TOKEN": "</a:t>
            </a:r>
            <a:r>
              <a:rPr lang="en-US" altLang="zh-CN" dirty="0" err="1"/>
              <a:t>sk</a:t>
            </a:r>
            <a:r>
              <a:rPr lang="en-US" altLang="zh-CN" dirty="0"/>
              <a:t>-your-</a:t>
            </a:r>
            <a:r>
              <a:rPr lang="en-US" altLang="zh-CN" dirty="0" err="1"/>
              <a:t>deepseek</a:t>
            </a:r>
            <a:r>
              <a:rPr lang="en-US" altLang="zh-CN" dirty="0"/>
              <a:t>-</a:t>
            </a:r>
            <a:r>
              <a:rPr lang="en-US" altLang="zh-CN" dirty="0" err="1"/>
              <a:t>api</a:t>
            </a:r>
            <a:r>
              <a:rPr lang="en-US" altLang="zh-CN" dirty="0"/>
              <a:t>-key",</a:t>
            </a:r>
          </a:p>
          <a:p>
            <a:r>
              <a:rPr lang="en-US" altLang="zh-CN" dirty="0"/>
              <a:t>    "ANTHROPIC_BASE_URL": "https://api.deepseek.com/anthropic",</a:t>
            </a:r>
          </a:p>
          <a:p>
            <a:r>
              <a:rPr lang="en-US" altLang="zh-CN" dirty="0"/>
              <a:t>    "ANTHROPIC_MODEL": "</a:t>
            </a:r>
            <a:r>
              <a:rPr lang="en-US" altLang="zh-CN" dirty="0" err="1"/>
              <a:t>deepseek</a:t>
            </a:r>
            <a:r>
              <a:rPr lang="en-US" altLang="zh-CN" dirty="0"/>
              <a:t>-chat",</a:t>
            </a:r>
          </a:p>
          <a:p>
            <a:r>
              <a:rPr lang="en-US" altLang="zh-CN" dirty="0"/>
              <a:t>    "ANTHROPIC_DEFAULT_OPUS_MODEL": "</a:t>
            </a:r>
            <a:r>
              <a:rPr lang="en-US" altLang="zh-CN" dirty="0" err="1"/>
              <a:t>deepseek</a:t>
            </a:r>
            <a:r>
              <a:rPr lang="en-US" altLang="zh-CN" dirty="0"/>
              <a:t>-reasoner",</a:t>
            </a:r>
          </a:p>
          <a:p>
            <a:r>
              <a:rPr lang="en-US" altLang="zh-CN" dirty="0"/>
              <a:t>    "ANTHROPIC_DEFAULT_SONNET_MODEL": "</a:t>
            </a:r>
            <a:r>
              <a:rPr lang="en-US" altLang="zh-CN" dirty="0" err="1"/>
              <a:t>deepseek</a:t>
            </a:r>
            <a:r>
              <a:rPr lang="en-US" altLang="zh-CN" dirty="0"/>
              <a:t>-chat",</a:t>
            </a:r>
          </a:p>
          <a:p>
            <a:r>
              <a:rPr lang="en-US" altLang="zh-CN" dirty="0"/>
              <a:t>    "ANTHROPIC_DEFAULT_HAIKU_MODEL": "</a:t>
            </a:r>
            <a:r>
              <a:rPr lang="en-US" altLang="zh-CN" dirty="0" err="1"/>
              <a:t>deepseek</a:t>
            </a:r>
            <a:r>
              <a:rPr lang="en-US" altLang="zh-CN" dirty="0"/>
              <a:t>-chat",</a:t>
            </a:r>
          </a:p>
          <a:p>
            <a:r>
              <a:rPr lang="en-US" altLang="zh-CN" dirty="0"/>
              <a:t>    "CLAUDE_CODE_SUBAGENT_MODEL": "</a:t>
            </a:r>
            <a:r>
              <a:rPr lang="en-US" altLang="zh-CN" dirty="0" err="1"/>
              <a:t>deepseek</a:t>
            </a:r>
            <a:r>
              <a:rPr lang="en-US" altLang="zh-CN" dirty="0"/>
              <a:t>-chat",</a:t>
            </a:r>
          </a:p>
          <a:p>
            <a:r>
              <a:rPr lang="en-US" altLang="zh-CN" dirty="0"/>
              <a:t>    "CLAUDE_CODE_MAX_OUTPUT_TOKENS": "32000",</a:t>
            </a:r>
          </a:p>
          <a:p>
            <a:r>
              <a:rPr lang="en-US" altLang="zh-CN" dirty="0"/>
              <a:t>    "API_TIMEOUT_MS": "600000"</a:t>
            </a:r>
          </a:p>
          <a:p>
            <a:r>
              <a:rPr lang="en-US" altLang="zh-CN" dirty="0"/>
              <a:t>  },</a:t>
            </a:r>
          </a:p>
          <a:p>
            <a:r>
              <a:rPr lang="en-US" altLang="zh-CN" dirty="0"/>
              <a:t>  "permissions": {</a:t>
            </a:r>
          </a:p>
          <a:p>
            <a:r>
              <a:rPr lang="en-US" altLang="zh-CN" dirty="0"/>
              <a:t>    "allow": [],</a:t>
            </a:r>
          </a:p>
          <a:p>
            <a:r>
              <a:rPr lang="en-US" altLang="zh-CN" dirty="0"/>
              <a:t>    "deny": []</a:t>
            </a:r>
          </a:p>
          <a:p>
            <a:r>
              <a:rPr lang="en-US" altLang="zh-CN" dirty="0"/>
              <a:t>  }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2396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D73E1-3F73-9A88-A446-BEBB989E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BB0888-13BE-1B77-BBA2-82AFC69D0264}"/>
              </a:ext>
            </a:extLst>
          </p:cNvPr>
          <p:cNvSpPr txBox="1"/>
          <p:nvPr/>
        </p:nvSpPr>
        <p:spPr>
          <a:xfrm>
            <a:off x="188422" y="116378"/>
            <a:ext cx="5647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OpenClaw</a:t>
            </a:r>
            <a:r>
              <a:rPr lang="zh-CN" altLang="en-US" dirty="0"/>
              <a:t>自动安装</a:t>
            </a:r>
            <a:r>
              <a:rPr lang="en-US" altLang="zh-CN" dirty="0" err="1"/>
              <a:t>acp</a:t>
            </a:r>
            <a:r>
              <a:rPr lang="en-US" altLang="zh-CN" dirty="0"/>
              <a:t>,</a:t>
            </a:r>
            <a:r>
              <a:rPr lang="zh-CN" altLang="en-US" dirty="0"/>
              <a:t>并通过</a:t>
            </a:r>
            <a:r>
              <a:rPr lang="en-US" altLang="zh-CN" dirty="0" err="1"/>
              <a:t>acp</a:t>
            </a:r>
            <a:r>
              <a:rPr lang="zh-CN" altLang="en-US" dirty="0"/>
              <a:t>协议编写程序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BE9495-0DB3-1459-73E3-401A1B98330E}"/>
              </a:ext>
            </a:extLst>
          </p:cNvPr>
          <p:cNvSpPr txBox="1"/>
          <p:nvPr/>
        </p:nvSpPr>
        <p:spPr>
          <a:xfrm>
            <a:off x="232756" y="526473"/>
            <a:ext cx="105571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/>
              <a:t>在</a:t>
            </a:r>
            <a:r>
              <a:rPr lang="en-US" altLang="zh-CN" sz="1200" dirty="0" err="1"/>
              <a:t>OpenClaw</a:t>
            </a:r>
            <a:r>
              <a:rPr lang="en-US" altLang="zh-CN" sz="1200" dirty="0"/>
              <a:t> </a:t>
            </a:r>
            <a:r>
              <a:rPr lang="zh-CN" altLang="zh-CN" sz="1200" dirty="0"/>
              <a:t>浏览器界面说：</a:t>
            </a:r>
          </a:p>
          <a:p>
            <a:r>
              <a:rPr lang="en-US" altLang="zh-CN" sz="1200" b="1" dirty="0"/>
              <a:t>Use Claude Code to write Java code that sums from 1 to 5000.Place the code in the /root/projects/</a:t>
            </a:r>
            <a:r>
              <a:rPr lang="en-US" altLang="zh-CN" sz="1200" b="1" dirty="0" err="1"/>
              <a:t>openclaw</a:t>
            </a:r>
            <a:r>
              <a:rPr lang="en-US" altLang="zh-CN" sz="1200" b="1" dirty="0"/>
              <a:t>-</a:t>
            </a:r>
            <a:r>
              <a:rPr lang="en-US" altLang="zh-CN" sz="1200" b="1" dirty="0" err="1"/>
              <a:t>withclaude</a:t>
            </a:r>
            <a:r>
              <a:rPr lang="en-US" altLang="zh-CN" sz="1200" b="1" dirty="0"/>
              <a:t>-code-example directory. must write code using </a:t>
            </a:r>
            <a:r>
              <a:rPr lang="en-US" altLang="zh-CN" sz="1200" b="1" dirty="0" err="1"/>
              <a:t>claude</a:t>
            </a:r>
            <a:r>
              <a:rPr lang="en-US" altLang="zh-CN" sz="1200" b="1" dirty="0"/>
              <a:t> code. </a:t>
            </a:r>
            <a:r>
              <a:rPr lang="en-US" altLang="zh-CN" sz="1200" b="1" dirty="0" err="1"/>
              <a:t>claude</a:t>
            </a:r>
            <a:r>
              <a:rPr lang="en-US" altLang="zh-CN" sz="1200" b="1" dirty="0"/>
              <a:t> code already installed </a:t>
            </a:r>
            <a:endParaRPr lang="zh-CN" altLang="zh-CN" sz="1200" dirty="0"/>
          </a:p>
          <a:p>
            <a:r>
              <a:rPr lang="zh-CN" altLang="zh-CN" sz="1200" dirty="0"/>
              <a:t>在浏览器界面 系统显示自动安装工具与协议（</a:t>
            </a:r>
            <a:r>
              <a:rPr lang="en-US" altLang="zh-CN" sz="1200" dirty="0"/>
              <a:t>ACP</a:t>
            </a:r>
            <a:r>
              <a:rPr lang="zh-CN" altLang="zh-CN" sz="1200" dirty="0"/>
              <a:t>），并完成指定的编程任务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D60FAB-753A-8F26-D6AA-558587302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97" y="1497907"/>
            <a:ext cx="8406130" cy="483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786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0359A-17B5-ACB7-1015-3656597CA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1C89255-E099-84A5-3EBF-16553F919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717" y="1365134"/>
            <a:ext cx="8406130" cy="372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860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7B9A4-1652-8FD8-43CF-046E8A5D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C25D582-456F-89AE-00AC-F7E369CD5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41" y="361459"/>
            <a:ext cx="8406130" cy="261048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A71716D-3A23-A771-DB65-91D09B781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41" y="3117042"/>
            <a:ext cx="840613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1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7AF10A8-3237-DEFC-F5C2-9B165E75090A}"/>
              </a:ext>
            </a:extLst>
          </p:cNvPr>
          <p:cNvSpPr txBox="1"/>
          <p:nvPr/>
        </p:nvSpPr>
        <p:spPr>
          <a:xfrm>
            <a:off x="1130531" y="1668087"/>
            <a:ext cx="90719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看到最后完成的消息后，检查结果：</a:t>
            </a:r>
          </a:p>
          <a:p>
            <a:r>
              <a:rPr lang="en-US" altLang="zh-CN" dirty="0"/>
              <a:t>[</a:t>
            </a:r>
            <a:r>
              <a:rPr lang="en-US" altLang="zh-CN" dirty="0" err="1"/>
              <a:t>root@bastion</a:t>
            </a:r>
            <a:r>
              <a:rPr lang="en-US" altLang="zh-CN" dirty="0"/>
              <a:t> </a:t>
            </a:r>
            <a:r>
              <a:rPr lang="en-US" altLang="zh-CN" dirty="0" err="1"/>
              <a:t>openclaw</a:t>
            </a:r>
            <a:r>
              <a:rPr lang="en-US" altLang="zh-CN" dirty="0"/>
              <a:t>-with-</a:t>
            </a:r>
            <a:r>
              <a:rPr lang="en-US" altLang="zh-CN" dirty="0" err="1"/>
              <a:t>claude</a:t>
            </a:r>
            <a:r>
              <a:rPr lang="en-US" altLang="zh-CN" dirty="0"/>
              <a:t>-code-example]# ls -l</a:t>
            </a:r>
          </a:p>
          <a:p>
            <a:r>
              <a:rPr lang="en-US" altLang="zh-CN" dirty="0"/>
              <a:t>total 16</a:t>
            </a:r>
          </a:p>
          <a:p>
            <a:r>
              <a:rPr lang="en-US" altLang="zh-CN" dirty="0"/>
              <a:t>-</a:t>
            </a:r>
            <a:r>
              <a:rPr lang="en-US" altLang="zh-CN" dirty="0" err="1"/>
              <a:t>rw</a:t>
            </a:r>
            <a:r>
              <a:rPr lang="en-US" altLang="zh-CN" dirty="0"/>
              <a:t>-r--r-- 1 root </a:t>
            </a:r>
            <a:r>
              <a:rPr lang="en-US" altLang="zh-CN" dirty="0" err="1"/>
              <a:t>root</a:t>
            </a:r>
            <a:r>
              <a:rPr lang="en-US" altLang="zh-CN" dirty="0"/>
              <a:t>  123 Mar 18 09:03 HelloWorld.java</a:t>
            </a:r>
          </a:p>
          <a:p>
            <a:r>
              <a:rPr lang="en-US" altLang="zh-CN" dirty="0"/>
              <a:t>-</a:t>
            </a:r>
            <a:r>
              <a:rPr lang="en-US" altLang="zh-CN" dirty="0" err="1"/>
              <a:t>rw</a:t>
            </a:r>
            <a:r>
              <a:rPr lang="en-US" altLang="zh-CN" dirty="0"/>
              <a:t>-r--r-- 1 root </a:t>
            </a:r>
            <a:r>
              <a:rPr lang="en-US" altLang="zh-CN" dirty="0" err="1"/>
              <a:t>root</a:t>
            </a:r>
            <a:r>
              <a:rPr lang="en-US" altLang="zh-CN" dirty="0"/>
              <a:t> 1069 Mar 18 09:01 LICENSE</a:t>
            </a:r>
          </a:p>
          <a:p>
            <a:r>
              <a:rPr lang="en-US" altLang="zh-CN" dirty="0"/>
              <a:t>-</a:t>
            </a:r>
            <a:r>
              <a:rPr lang="en-US" altLang="zh-CN" dirty="0" err="1"/>
              <a:t>rw</a:t>
            </a:r>
            <a:r>
              <a:rPr lang="en-US" altLang="zh-CN" dirty="0"/>
              <a:t>-r--r-- 1 root </a:t>
            </a:r>
            <a:r>
              <a:rPr lang="en-US" altLang="zh-CN" dirty="0" err="1"/>
              <a:t>root</a:t>
            </a:r>
            <a:r>
              <a:rPr lang="en-US" altLang="zh-CN" dirty="0"/>
              <a:t> 3176 Mar 18 09:13 QueueProducer.java</a:t>
            </a:r>
          </a:p>
          <a:p>
            <a:r>
              <a:rPr lang="en-US" altLang="zh-CN" dirty="0"/>
              <a:t>-</a:t>
            </a:r>
            <a:r>
              <a:rPr lang="en-US" altLang="zh-CN" dirty="0" err="1"/>
              <a:t>rw</a:t>
            </a:r>
            <a:r>
              <a:rPr lang="en-US" altLang="zh-CN" dirty="0"/>
              <a:t>-r--r-- 1 root </a:t>
            </a:r>
            <a:r>
              <a:rPr lang="en-US" altLang="zh-CN" dirty="0" err="1"/>
              <a:t>root</a:t>
            </a:r>
            <a:r>
              <a:rPr lang="en-US" altLang="zh-CN" dirty="0"/>
              <a:t>  600 Mar 18 09:34 </a:t>
            </a:r>
            <a:r>
              <a:rPr lang="en-US" altLang="zh-CN" b="1" dirty="0">
                <a:solidFill>
                  <a:srgbClr val="FF0000"/>
                </a:solidFill>
              </a:rPr>
              <a:t>SumOneToFiveThousand.java</a:t>
            </a:r>
          </a:p>
          <a:p>
            <a:r>
              <a:rPr lang="en-US" altLang="zh-CN" dirty="0"/>
              <a:t>[</a:t>
            </a:r>
            <a:r>
              <a:rPr lang="en-US" altLang="zh-CN" dirty="0" err="1"/>
              <a:t>root@bastion</a:t>
            </a:r>
            <a:r>
              <a:rPr lang="en-US" altLang="zh-CN" dirty="0"/>
              <a:t> </a:t>
            </a:r>
            <a:r>
              <a:rPr lang="en-US" altLang="zh-CN" dirty="0" err="1"/>
              <a:t>openclaw</a:t>
            </a:r>
            <a:r>
              <a:rPr lang="en-US" altLang="zh-CN" dirty="0"/>
              <a:t>-with-</a:t>
            </a:r>
            <a:r>
              <a:rPr lang="en-US" altLang="zh-CN" dirty="0" err="1"/>
              <a:t>claude</a:t>
            </a:r>
            <a:r>
              <a:rPr lang="en-US" altLang="zh-CN" dirty="0"/>
              <a:t>-code-example]#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60FB4B-CECD-0B50-D139-11283D499297}"/>
              </a:ext>
            </a:extLst>
          </p:cNvPr>
          <p:cNvSpPr txBox="1"/>
          <p:nvPr/>
        </p:nvSpPr>
        <p:spPr>
          <a:xfrm>
            <a:off x="171796" y="77585"/>
            <a:ext cx="6938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检查</a:t>
            </a:r>
            <a:r>
              <a:rPr lang="en-US" altLang="zh-CN" dirty="0" err="1"/>
              <a:t>OpenClaw</a:t>
            </a:r>
            <a:r>
              <a:rPr lang="zh-CN" altLang="en-US" dirty="0"/>
              <a:t>做的结果</a:t>
            </a:r>
          </a:p>
        </p:txBody>
      </p:sp>
    </p:spTree>
    <p:extLst>
      <p:ext uri="{BB962C8B-B14F-4D97-AF65-F5344CB8AC3E}">
        <p14:creationId xmlns:p14="http://schemas.microsoft.com/office/powerpoint/2010/main" val="3471470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8C11-6FBF-45B3-6E1E-CC3117246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82C3D85-BE9C-C40F-5B42-2758F70624B0}"/>
              </a:ext>
            </a:extLst>
          </p:cNvPr>
          <p:cNvSpPr txBox="1"/>
          <p:nvPr/>
        </p:nvSpPr>
        <p:spPr>
          <a:xfrm>
            <a:off x="210589" y="83127"/>
            <a:ext cx="662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OpenClaw</a:t>
            </a:r>
            <a:r>
              <a:rPr lang="en-US" altLang="zh-CN" dirty="0"/>
              <a:t> </a:t>
            </a:r>
            <a:r>
              <a:rPr lang="zh-CN" altLang="en-US" dirty="0"/>
              <a:t>调度 </a:t>
            </a:r>
            <a:r>
              <a:rPr lang="en-US" altLang="zh-CN" dirty="0" err="1"/>
              <a:t>claude</a:t>
            </a:r>
            <a:r>
              <a:rPr lang="en-US" altLang="zh-CN" dirty="0"/>
              <a:t> code </a:t>
            </a:r>
            <a:r>
              <a:rPr lang="zh-CN" altLang="en-US" dirty="0"/>
              <a:t>提交代码到 </a:t>
            </a:r>
            <a:r>
              <a:rPr lang="en-US" altLang="zh-CN" dirty="0"/>
              <a:t>github.com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4B175C-CD2B-765D-FA76-06F36CB8318B}"/>
              </a:ext>
            </a:extLst>
          </p:cNvPr>
          <p:cNvSpPr txBox="1"/>
          <p:nvPr/>
        </p:nvSpPr>
        <p:spPr>
          <a:xfrm>
            <a:off x="387927" y="559724"/>
            <a:ext cx="113718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/>
              <a:t>在</a:t>
            </a:r>
            <a:r>
              <a:rPr lang="en-US" altLang="zh-CN" sz="1200" dirty="0" err="1"/>
              <a:t>OpenClaw</a:t>
            </a:r>
            <a:r>
              <a:rPr lang="en-US" altLang="zh-CN" sz="1200" dirty="0"/>
              <a:t> web</a:t>
            </a:r>
            <a:r>
              <a:rPr lang="zh-CN" altLang="zh-CN" sz="1200" dirty="0"/>
              <a:t>界面发出指令： </a:t>
            </a:r>
          </a:p>
          <a:p>
            <a:r>
              <a:rPr lang="en-US" altLang="zh-CN" sz="1200" b="1" dirty="0">
                <a:solidFill>
                  <a:srgbClr val="FF0000"/>
                </a:solidFill>
              </a:rPr>
              <a:t>Use Claude Code to commit the code SumOneToFiveThousand.java just written to https://github.com/copenbusiness/openclaw-with-claude-code-example. You must use Claude Code, not git directly</a:t>
            </a:r>
            <a:r>
              <a:rPr lang="en-US" altLang="zh-CN" sz="1200" b="1" dirty="0"/>
              <a:t>.</a:t>
            </a:r>
            <a:endParaRPr lang="zh-CN" altLang="zh-CN" sz="1200" dirty="0"/>
          </a:p>
          <a:p>
            <a:r>
              <a:rPr lang="en-US" altLang="zh-CN" sz="1200" dirty="0" err="1"/>
              <a:t>OpenClaw</a:t>
            </a:r>
            <a:r>
              <a:rPr lang="zh-CN" altLang="zh-CN" sz="1200" dirty="0"/>
              <a:t>自动完成一系列操纵，并在最后完成之后给出总结：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EA1DFB-7F35-71C0-DAC0-A19177DF0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89" y="1407044"/>
            <a:ext cx="8406130" cy="232814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01F0B76-BCE4-B35C-A3A9-5117D002C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488" y="2571114"/>
            <a:ext cx="7866206" cy="41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248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8507C-07B1-C051-7D2E-C3DB3F705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DD21F18-545B-9AFE-3DF8-686CC65E718C}"/>
              </a:ext>
            </a:extLst>
          </p:cNvPr>
          <p:cNvSpPr txBox="1"/>
          <p:nvPr/>
        </p:nvSpPr>
        <p:spPr>
          <a:xfrm>
            <a:off x="216131" y="171796"/>
            <a:ext cx="4793673" cy="376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github.com</a:t>
            </a:r>
            <a:r>
              <a:rPr lang="zh-CN" altLang="en-US" dirty="0"/>
              <a:t>检查提交代码效果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33AF09-16B3-DA92-3B6E-4163B1369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150" y="972184"/>
            <a:ext cx="8406130" cy="533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94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F892A-5693-F1B4-082B-B87518F9C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755CBA2-8DCE-066D-BD31-5C9BD1F798B1}"/>
              </a:ext>
            </a:extLst>
          </p:cNvPr>
          <p:cNvSpPr txBox="1"/>
          <p:nvPr/>
        </p:nvSpPr>
        <p:spPr>
          <a:xfrm>
            <a:off x="266007" y="149629"/>
            <a:ext cx="11798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Git</a:t>
            </a:r>
            <a:r>
              <a:rPr lang="zh-CN" altLang="en-US" dirty="0"/>
              <a:t>记住登录</a:t>
            </a:r>
            <a:r>
              <a:rPr lang="en-US" altLang="zh-CN" dirty="0"/>
              <a:t>github.com</a:t>
            </a:r>
            <a:r>
              <a:rPr lang="zh-CN" altLang="en-US" dirty="0"/>
              <a:t>的账户和令牌，这样</a:t>
            </a:r>
            <a:r>
              <a:rPr lang="en-US" altLang="zh-CN" dirty="0"/>
              <a:t>Claude Code</a:t>
            </a:r>
            <a:r>
              <a:rPr lang="zh-CN" altLang="en-US" dirty="0"/>
              <a:t>提交代码的时候就可以自动提交了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68E34F-4B89-BF87-1AFD-0AE1DFD8B711}"/>
              </a:ext>
            </a:extLst>
          </p:cNvPr>
          <p:cNvSpPr txBox="1"/>
          <p:nvPr/>
        </p:nvSpPr>
        <p:spPr>
          <a:xfrm>
            <a:off x="266007" y="592975"/>
            <a:ext cx="67277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b="1" dirty="0"/>
              <a:t>配置</a:t>
            </a:r>
            <a:r>
              <a:rPr lang="en-US" altLang="zh-CN" sz="1200" b="1" dirty="0"/>
              <a:t> Git </a:t>
            </a:r>
            <a:r>
              <a:rPr lang="zh-CN" altLang="zh-CN" sz="1200" b="1" dirty="0"/>
              <a:t>缓存凭据</a:t>
            </a:r>
          </a:p>
          <a:p>
            <a:r>
              <a:rPr lang="en-US" altLang="zh-CN" sz="1200" dirty="0"/>
              <a:t> </a:t>
            </a:r>
            <a:endParaRPr lang="zh-CN" altLang="zh-CN" sz="1200" dirty="0"/>
          </a:p>
          <a:p>
            <a:r>
              <a:rPr lang="en-US" altLang="zh-CN" sz="1200" dirty="0"/>
              <a:t>git config --global </a:t>
            </a:r>
            <a:r>
              <a:rPr lang="en-US" altLang="zh-CN" sz="1200" dirty="0" err="1"/>
              <a:t>credential.helper</a:t>
            </a:r>
            <a:r>
              <a:rPr lang="en-US" altLang="zh-CN" sz="1200" dirty="0"/>
              <a:t> store</a:t>
            </a:r>
            <a:endParaRPr lang="zh-CN" altLang="zh-CN" sz="1200" dirty="0"/>
          </a:p>
          <a:p>
            <a:r>
              <a:rPr lang="zh-CN" altLang="zh-CN" sz="1200" dirty="0"/>
              <a:t>然后执行一次</a:t>
            </a:r>
            <a:r>
              <a:rPr lang="en-US" altLang="zh-CN" sz="1200" dirty="0"/>
              <a:t> git push </a:t>
            </a:r>
            <a:r>
              <a:rPr lang="zh-CN" altLang="zh-CN" sz="1200" dirty="0"/>
              <a:t>输入用户名和令牌，</a:t>
            </a:r>
            <a:r>
              <a:rPr lang="en-US" altLang="zh-CN" sz="1200" dirty="0"/>
              <a:t>Git </a:t>
            </a:r>
            <a:r>
              <a:rPr lang="zh-CN" altLang="zh-CN" sz="1200" dirty="0"/>
              <a:t>会记住它们，以后不再询问。</a:t>
            </a:r>
          </a:p>
          <a:p>
            <a:r>
              <a:rPr lang="en-US" altLang="zh-CN" sz="1200" dirty="0"/>
              <a:t>[</a:t>
            </a:r>
            <a:r>
              <a:rPr lang="en-US" altLang="zh-CN" sz="1200" dirty="0" err="1"/>
              <a:t>root@bastion</a:t>
            </a:r>
            <a:r>
              <a:rPr lang="en-US" altLang="zh-CN" sz="1200" dirty="0"/>
              <a:t> </a:t>
            </a:r>
            <a:r>
              <a:rPr lang="en-US" altLang="zh-CN" sz="1200" dirty="0" err="1"/>
              <a:t>openclaw</a:t>
            </a:r>
            <a:r>
              <a:rPr lang="en-US" altLang="zh-CN" sz="1200" dirty="0"/>
              <a:t>-with-</a:t>
            </a:r>
            <a:r>
              <a:rPr lang="en-US" altLang="zh-CN" sz="1200" dirty="0" err="1"/>
              <a:t>claude</a:t>
            </a:r>
            <a:r>
              <a:rPr lang="en-US" altLang="zh-CN" sz="1200" dirty="0"/>
              <a:t>-code-example]# git add .</a:t>
            </a:r>
            <a:endParaRPr lang="zh-CN" altLang="zh-CN" sz="1200" dirty="0"/>
          </a:p>
          <a:p>
            <a:r>
              <a:rPr lang="en-US" altLang="zh-CN" sz="1200" dirty="0"/>
              <a:t>[</a:t>
            </a:r>
            <a:r>
              <a:rPr lang="en-US" altLang="zh-CN" sz="1200" dirty="0" err="1"/>
              <a:t>root@bastion</a:t>
            </a:r>
            <a:r>
              <a:rPr lang="en-US" altLang="zh-CN" sz="1200" dirty="0"/>
              <a:t> </a:t>
            </a:r>
            <a:r>
              <a:rPr lang="en-US" altLang="zh-CN" sz="1200" dirty="0" err="1"/>
              <a:t>openclaw</a:t>
            </a:r>
            <a:r>
              <a:rPr lang="en-US" altLang="zh-CN" sz="1200" dirty="0"/>
              <a:t>-with-</a:t>
            </a:r>
            <a:r>
              <a:rPr lang="en-US" altLang="zh-CN" sz="1200" dirty="0" err="1"/>
              <a:t>claude</a:t>
            </a:r>
            <a:r>
              <a:rPr lang="en-US" altLang="zh-CN" sz="1200" dirty="0"/>
              <a:t>-code-example]# git commit -m "</a:t>
            </a:r>
            <a:r>
              <a:rPr lang="zh-CN" altLang="zh-CN" sz="1200" dirty="0"/>
              <a:t>初始提交：添加</a:t>
            </a:r>
            <a:r>
              <a:rPr lang="en-US" altLang="zh-CN" sz="1200" dirty="0"/>
              <a:t> ALL </a:t>
            </a:r>
            <a:r>
              <a:rPr lang="zh-CN" altLang="zh-CN" sz="1200" dirty="0"/>
              <a:t>文件</a:t>
            </a:r>
            <a:r>
              <a:rPr lang="en-US" altLang="zh-CN" sz="1200" dirty="0"/>
              <a:t>"</a:t>
            </a:r>
            <a:endParaRPr lang="zh-CN" altLang="zh-CN" sz="1200" dirty="0"/>
          </a:p>
          <a:p>
            <a:r>
              <a:rPr lang="en-US" altLang="zh-CN" sz="1200" dirty="0"/>
              <a:t>[main 0a96fed] </a:t>
            </a:r>
            <a:r>
              <a:rPr lang="zh-CN" altLang="zh-CN" sz="1200" dirty="0"/>
              <a:t>初始提交：添加</a:t>
            </a:r>
            <a:r>
              <a:rPr lang="en-US" altLang="zh-CN" sz="1200" dirty="0"/>
              <a:t> ALL </a:t>
            </a:r>
            <a:r>
              <a:rPr lang="zh-CN" altLang="zh-CN" sz="1200" dirty="0"/>
              <a:t>文件</a:t>
            </a:r>
          </a:p>
          <a:p>
            <a:r>
              <a:rPr lang="en-US" altLang="zh-CN" sz="1200" dirty="0"/>
              <a:t> 2 files changed, 122 insertions(+)</a:t>
            </a:r>
            <a:endParaRPr lang="zh-CN" altLang="zh-CN" sz="1200" dirty="0"/>
          </a:p>
          <a:p>
            <a:r>
              <a:rPr lang="en-US" altLang="zh-CN" sz="1200" dirty="0"/>
              <a:t> create mode 100644 HelloWorld.java</a:t>
            </a:r>
            <a:endParaRPr lang="zh-CN" altLang="zh-CN" sz="1200" dirty="0"/>
          </a:p>
          <a:p>
            <a:r>
              <a:rPr lang="en-US" altLang="zh-CN" sz="1200" dirty="0"/>
              <a:t> create mode 100644 QueueProducer.java</a:t>
            </a:r>
            <a:endParaRPr lang="zh-CN" altLang="zh-CN" sz="1200" dirty="0"/>
          </a:p>
          <a:p>
            <a:r>
              <a:rPr lang="en-US" altLang="zh-CN" sz="1200" dirty="0"/>
              <a:t>[</a:t>
            </a:r>
            <a:r>
              <a:rPr lang="en-US" altLang="zh-CN" sz="1200" dirty="0" err="1"/>
              <a:t>root@bastion</a:t>
            </a:r>
            <a:r>
              <a:rPr lang="en-US" altLang="zh-CN" sz="1200" dirty="0"/>
              <a:t> </a:t>
            </a:r>
            <a:r>
              <a:rPr lang="en-US" altLang="zh-CN" sz="1200" dirty="0" err="1"/>
              <a:t>openclaw</a:t>
            </a:r>
            <a:r>
              <a:rPr lang="en-US" altLang="zh-CN" sz="1200" dirty="0"/>
              <a:t>-with-</a:t>
            </a:r>
            <a:r>
              <a:rPr lang="en-US" altLang="zh-CN" sz="1200" dirty="0" err="1"/>
              <a:t>claude</a:t>
            </a:r>
            <a:r>
              <a:rPr lang="en-US" altLang="zh-CN" sz="1200" dirty="0"/>
              <a:t>-code-example]# </a:t>
            </a:r>
            <a:r>
              <a:rPr lang="en-US" altLang="zh-CN" sz="1200" b="1" dirty="0">
                <a:solidFill>
                  <a:srgbClr val="FF0000"/>
                </a:solidFill>
              </a:rPr>
              <a:t>git config --global </a:t>
            </a:r>
            <a:r>
              <a:rPr lang="en-US" altLang="zh-CN" sz="1200" b="1" dirty="0" err="1">
                <a:solidFill>
                  <a:srgbClr val="FF0000"/>
                </a:solidFill>
              </a:rPr>
              <a:t>credential.helper</a:t>
            </a:r>
            <a:r>
              <a:rPr lang="en-US" altLang="zh-CN" sz="1200" b="1" dirty="0">
                <a:solidFill>
                  <a:srgbClr val="FF0000"/>
                </a:solidFill>
              </a:rPr>
              <a:t> store</a:t>
            </a:r>
            <a:endParaRPr lang="zh-CN" altLang="zh-CN" sz="1200" dirty="0">
              <a:solidFill>
                <a:srgbClr val="FF0000"/>
              </a:solidFill>
            </a:endParaRPr>
          </a:p>
          <a:p>
            <a:r>
              <a:rPr lang="en-US" altLang="zh-CN" sz="1200" dirty="0"/>
              <a:t>[</a:t>
            </a:r>
            <a:r>
              <a:rPr lang="en-US" altLang="zh-CN" sz="1200" dirty="0" err="1"/>
              <a:t>root@bastion</a:t>
            </a:r>
            <a:r>
              <a:rPr lang="en-US" altLang="zh-CN" sz="1200" dirty="0"/>
              <a:t> </a:t>
            </a:r>
            <a:r>
              <a:rPr lang="en-US" altLang="zh-CN" sz="1200" dirty="0" err="1"/>
              <a:t>openclaw</a:t>
            </a:r>
            <a:r>
              <a:rPr lang="en-US" altLang="zh-CN" sz="1200" dirty="0"/>
              <a:t>-with-</a:t>
            </a:r>
            <a:r>
              <a:rPr lang="en-US" altLang="zh-CN" sz="1200" dirty="0" err="1"/>
              <a:t>claude</a:t>
            </a:r>
            <a:r>
              <a:rPr lang="en-US" altLang="zh-CN" sz="1200" dirty="0"/>
              <a:t>-code-example]# git branch</a:t>
            </a:r>
            <a:endParaRPr lang="zh-CN" altLang="zh-CN" sz="1200" dirty="0"/>
          </a:p>
          <a:p>
            <a:r>
              <a:rPr lang="en-US" altLang="zh-CN" sz="1200" dirty="0"/>
              <a:t>* main</a:t>
            </a:r>
            <a:endParaRPr lang="zh-CN" altLang="zh-CN" sz="1200" dirty="0"/>
          </a:p>
          <a:p>
            <a:r>
              <a:rPr lang="en-US" altLang="zh-CN" sz="1200" dirty="0"/>
              <a:t>[</a:t>
            </a:r>
            <a:r>
              <a:rPr lang="en-US" altLang="zh-CN" sz="1200" dirty="0" err="1"/>
              <a:t>root@bastion</a:t>
            </a:r>
            <a:r>
              <a:rPr lang="en-US" altLang="zh-CN" sz="1200" dirty="0"/>
              <a:t> </a:t>
            </a:r>
            <a:r>
              <a:rPr lang="en-US" altLang="zh-CN" sz="1200" dirty="0" err="1"/>
              <a:t>openclaw</a:t>
            </a:r>
            <a:r>
              <a:rPr lang="en-US" altLang="zh-CN" sz="1200" dirty="0"/>
              <a:t>-with-</a:t>
            </a:r>
            <a:r>
              <a:rPr lang="en-US" altLang="zh-CN" sz="1200" dirty="0" err="1"/>
              <a:t>claude</a:t>
            </a:r>
            <a:r>
              <a:rPr lang="en-US" altLang="zh-CN" sz="1200" dirty="0"/>
              <a:t>-code-example]# git push -u origin main</a:t>
            </a:r>
            <a:endParaRPr lang="zh-CN" altLang="zh-CN" sz="1200" dirty="0"/>
          </a:p>
          <a:p>
            <a:r>
              <a:rPr lang="en-US" altLang="zh-CN" sz="1200" b="1" dirty="0">
                <a:solidFill>
                  <a:srgbClr val="FF0000"/>
                </a:solidFill>
              </a:rPr>
              <a:t>Username for 'https://github.com': openbusiness@qq.com</a:t>
            </a:r>
            <a:endParaRPr lang="zh-CN" altLang="zh-CN" sz="1200" dirty="0">
              <a:solidFill>
                <a:srgbClr val="FF0000"/>
              </a:solidFill>
            </a:endParaRPr>
          </a:p>
          <a:p>
            <a:r>
              <a:rPr lang="en-US" altLang="zh-CN" sz="1200" b="1" dirty="0">
                <a:solidFill>
                  <a:srgbClr val="FF0000"/>
                </a:solidFill>
              </a:rPr>
              <a:t>Password for 'https://openbusiness%40qq.com@github.com':</a:t>
            </a:r>
            <a:endParaRPr lang="zh-CN" altLang="zh-CN" sz="1200" dirty="0">
              <a:solidFill>
                <a:srgbClr val="FF0000"/>
              </a:solidFill>
            </a:endParaRPr>
          </a:p>
          <a:p>
            <a:r>
              <a:rPr lang="en-US" altLang="zh-CN" sz="1200" dirty="0"/>
              <a:t>Enumerating objects: 5, done.</a:t>
            </a:r>
            <a:endParaRPr lang="zh-CN" altLang="zh-CN" sz="1200" dirty="0"/>
          </a:p>
          <a:p>
            <a:r>
              <a:rPr lang="en-US" altLang="zh-CN" sz="1200" dirty="0"/>
              <a:t>Counting objects: 100% (5/5), done.</a:t>
            </a:r>
            <a:endParaRPr lang="zh-CN" altLang="zh-CN" sz="1200" dirty="0"/>
          </a:p>
          <a:p>
            <a:r>
              <a:rPr lang="en-US" altLang="zh-CN" sz="1200" dirty="0"/>
              <a:t>[</a:t>
            </a:r>
            <a:r>
              <a:rPr lang="en-US" altLang="zh-CN" sz="1200" dirty="0" err="1"/>
              <a:t>root@bastion</a:t>
            </a:r>
            <a:r>
              <a:rPr lang="en-US" altLang="zh-CN" sz="1200" dirty="0"/>
              <a:t> </a:t>
            </a:r>
            <a:r>
              <a:rPr lang="en-US" altLang="zh-CN" sz="1200" dirty="0" err="1"/>
              <a:t>openclaw</a:t>
            </a:r>
            <a:r>
              <a:rPr lang="en-US" altLang="zh-CN" sz="1200" dirty="0"/>
              <a:t>-with-</a:t>
            </a:r>
            <a:r>
              <a:rPr lang="en-US" altLang="zh-CN" sz="1200" dirty="0" err="1"/>
              <a:t>claude</a:t>
            </a:r>
            <a:r>
              <a:rPr lang="en-US" altLang="zh-CN" sz="1200" dirty="0"/>
              <a:t>-code-example]#</a:t>
            </a:r>
            <a:endParaRPr lang="zh-CN" altLang="zh-CN" sz="1200" dirty="0"/>
          </a:p>
          <a:p>
            <a:r>
              <a:rPr lang="zh-CN" altLang="zh-CN" sz="1200" dirty="0"/>
              <a:t>（首次登录输入账户和</a:t>
            </a:r>
            <a:r>
              <a:rPr lang="en-US" altLang="zh-CN" sz="1200" dirty="0"/>
              <a:t>token</a:t>
            </a:r>
            <a:r>
              <a:rPr lang="zh-CN" altLang="zh-CN" sz="1200" dirty="0"/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21D80D-8CCE-373C-2CBE-E574300F7D59}"/>
              </a:ext>
            </a:extLst>
          </p:cNvPr>
          <p:cNvSpPr txBox="1"/>
          <p:nvPr/>
        </p:nvSpPr>
        <p:spPr>
          <a:xfrm>
            <a:off x="6156960" y="2892829"/>
            <a:ext cx="58133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 </a:t>
            </a:r>
            <a:r>
              <a:rPr lang="zh-CN" altLang="zh-CN" sz="1200" dirty="0"/>
              <a:t>↑</a:t>
            </a:r>
            <a:r>
              <a:rPr lang="en-US" altLang="zh-CN" sz="1200" dirty="0"/>
              <a:t> Opus now defaults to 1M context </a:t>
            </a:r>
            <a:r>
              <a:rPr lang="zh-CN" altLang="zh-CN" sz="1200" dirty="0"/>
              <a:t>·</a:t>
            </a:r>
            <a:r>
              <a:rPr lang="en-US" altLang="zh-CN" sz="1200" dirty="0"/>
              <a:t> 5x more room, same pricing</a:t>
            </a:r>
            <a:endParaRPr lang="zh-CN" altLang="zh-CN" sz="1200" dirty="0"/>
          </a:p>
          <a:p>
            <a:r>
              <a:rPr lang="en-US" altLang="zh-CN" sz="1200" dirty="0"/>
              <a:t>❯ </a:t>
            </a:r>
            <a:r>
              <a:rPr lang="zh-CN" altLang="zh-CN" sz="1200" b="1" dirty="0">
                <a:solidFill>
                  <a:srgbClr val="FF0000"/>
                </a:solidFill>
              </a:rPr>
              <a:t>把代码提交到</a:t>
            </a:r>
            <a:r>
              <a:rPr lang="en-US" altLang="zh-CN" sz="1200" b="1" dirty="0">
                <a:solidFill>
                  <a:srgbClr val="FF0000"/>
                </a:solidFill>
              </a:rPr>
              <a:t>https://github.com/copenbusiness/openclaw-with-claude-code-example</a:t>
            </a:r>
            <a:endParaRPr lang="zh-CN" altLang="zh-CN" sz="1200" dirty="0">
              <a:solidFill>
                <a:srgbClr val="FF0000"/>
              </a:solidFill>
            </a:endParaRPr>
          </a:p>
          <a:p>
            <a:r>
              <a:rPr lang="zh-CN" altLang="zh-CN" sz="1200" dirty="0"/>
              <a:t>●</a:t>
            </a:r>
            <a:r>
              <a:rPr lang="en-US" altLang="zh-CN" sz="1200" dirty="0"/>
              <a:t> Bash(git status)</a:t>
            </a:r>
            <a:endParaRPr lang="zh-CN" altLang="zh-CN" sz="1200" dirty="0"/>
          </a:p>
          <a:p>
            <a:r>
              <a:rPr lang="en-US" altLang="zh-CN" sz="1200" dirty="0"/>
              <a:t>  ⎿  On branch main</a:t>
            </a:r>
            <a:endParaRPr lang="zh-CN" altLang="zh-CN" sz="1200" dirty="0"/>
          </a:p>
          <a:p>
            <a:r>
              <a:rPr lang="en-US" altLang="zh-CN" sz="1200" dirty="0"/>
              <a:t>     Your branch is up to date with 'origin/main'.</a:t>
            </a:r>
            <a:endParaRPr lang="zh-CN" altLang="zh-CN" sz="1200" dirty="0"/>
          </a:p>
          <a:p>
            <a:r>
              <a:rPr lang="en-US" altLang="zh-CN" sz="1200" dirty="0"/>
              <a:t>     </a:t>
            </a:r>
            <a:r>
              <a:rPr lang="zh-CN" altLang="zh-CN" sz="1200" dirty="0"/>
              <a:t>…</a:t>
            </a:r>
            <a:r>
              <a:rPr lang="en-US" altLang="zh-CN" sz="1200" dirty="0"/>
              <a:t> +6 lines (</a:t>
            </a:r>
            <a:r>
              <a:rPr lang="en-US" altLang="zh-CN" sz="1200" dirty="0" err="1"/>
              <a:t>ctrl+o</a:t>
            </a:r>
            <a:r>
              <a:rPr lang="en-US" altLang="zh-CN" sz="1200" dirty="0"/>
              <a:t> to expand)</a:t>
            </a:r>
          </a:p>
          <a:p>
            <a:r>
              <a:rPr lang="en-US" altLang="zh-CN" sz="1200" dirty="0"/>
              <a:t>…………..</a:t>
            </a:r>
          </a:p>
          <a:p>
            <a:r>
              <a:rPr lang="en-US" altLang="zh-CN" sz="1200" dirty="0"/>
              <a:t>………….</a:t>
            </a:r>
          </a:p>
          <a:p>
            <a:r>
              <a:rPr lang="zh-CN" altLang="zh-CN" sz="1200" dirty="0"/>
              <a:t>●</a:t>
            </a:r>
            <a:r>
              <a:rPr lang="en-US" altLang="zh-CN" sz="1200" dirty="0"/>
              <a:t> Bash(git push origin main)</a:t>
            </a:r>
            <a:endParaRPr lang="zh-CN" altLang="zh-CN" sz="1200" dirty="0"/>
          </a:p>
          <a:p>
            <a:r>
              <a:rPr lang="en-US" altLang="zh-CN" sz="1200" dirty="0"/>
              <a:t>  ⎿  To https://github.com/copenbusiness/openclaw-with-claude-code-example</a:t>
            </a:r>
            <a:endParaRPr lang="zh-CN" altLang="zh-CN" sz="1200" dirty="0"/>
          </a:p>
          <a:p>
            <a:r>
              <a:rPr lang="en-US" altLang="zh-CN" sz="1200" dirty="0"/>
              <a:t>        0a96fed..8ad0362  main -&gt; main</a:t>
            </a:r>
            <a:endParaRPr lang="zh-CN" altLang="zh-CN" sz="1200" dirty="0"/>
          </a:p>
          <a:p>
            <a:r>
              <a:rPr lang="zh-CN" altLang="zh-CN" sz="1200" dirty="0"/>
              <a:t>● 代码已成功提交并推送到</a:t>
            </a:r>
            <a:r>
              <a:rPr lang="en-US" altLang="zh-CN" sz="1200" dirty="0"/>
              <a:t> GitHub </a:t>
            </a:r>
            <a:r>
              <a:rPr lang="zh-CN" altLang="zh-CN" sz="1200" dirty="0"/>
              <a:t>仓库。</a:t>
            </a:r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82824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3AEE0-01CE-BAE8-8D20-35D742AD5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2CA7611-2F3B-E6E8-847C-689A6D0883F3}"/>
              </a:ext>
            </a:extLst>
          </p:cNvPr>
          <p:cNvSpPr txBox="1"/>
          <p:nvPr/>
        </p:nvSpPr>
        <p:spPr>
          <a:xfrm>
            <a:off x="127462" y="105295"/>
            <a:ext cx="663355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KVM</a:t>
            </a:r>
            <a:r>
              <a:rPr lang="zh-CN" altLang="en-US" dirty="0"/>
              <a:t>构建无数神通广大、相互隔离和调度简单的编程虚拟机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10D789-C92E-DC87-3EAA-75AA7F2F26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48" y="519546"/>
            <a:ext cx="5976447" cy="346722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6E65E93-A11F-F5B1-94A5-B917331796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869" y="2102583"/>
            <a:ext cx="7694410" cy="444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349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6D74C03-0088-54ED-3DAD-C0510FC7C3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932" y="1063279"/>
            <a:ext cx="8406130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87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739</Words>
  <Application>Microsoft Office PowerPoint</Application>
  <PresentationFormat>宽屏</PresentationFormat>
  <Paragraphs>77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wang</dc:creator>
  <cp:lastModifiedBy>yu wang</cp:lastModifiedBy>
  <cp:revision>11</cp:revision>
  <dcterms:created xsi:type="dcterms:W3CDTF">2026-03-18T07:28:09Z</dcterms:created>
  <dcterms:modified xsi:type="dcterms:W3CDTF">2026-03-18T07:48:33Z</dcterms:modified>
</cp:coreProperties>
</file>